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latypi Light" panose="020B0604020202020204" charset="0"/>
      <p:regular r:id="rId13"/>
    </p:embeddedFont>
    <p:embeddedFont>
      <p:font typeface="Platypi Medium" panose="020B0604020202020204" charset="0"/>
      <p:regular r:id="rId14"/>
    </p:embeddedFont>
    <p:embeddedFont>
      <p:font typeface="Source Serif 4" panose="020B0604020202020204" charset="0"/>
      <p:regular r:id="rId15"/>
    </p:embeddedFont>
    <p:embeddedFont>
      <p:font typeface="Source Serif 4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635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235597"/>
            <a:ext cx="2678839" cy="287139"/>
          </a:xfrm>
          <a:prstGeom prst="roundRect">
            <a:avLst>
              <a:gd name="adj" fmla="val 7899"/>
            </a:avLst>
          </a:prstGeom>
          <a:solidFill>
            <a:srgbClr val="AFCBF8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292251"/>
            <a:ext cx="306161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BLUESTOCK FINTECH · JUNE 2026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5983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Bluestock Mutual Fund Analytics Platform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47245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600" dirty="0"/>
              <a:t>An End-to-End Business Intelligence &amp; Financial Analytics Solution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034730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4319984"/>
            <a:ext cx="11478330" cy="617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Aditya Bramhwanshi</a:t>
            </a:r>
            <a:endParaRPr lang="en-US" sz="1450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Analyst Intern · </a:t>
            </a:r>
            <a:r>
              <a:rPr lang="en-US" sz="145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Bluestocks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4823"/>
            <a:ext cx="1354500" cy="22969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159" y="690166"/>
            <a:ext cx="178271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BUSINESS CONTEXT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2283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Problem &amp; Objectives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697633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Challenges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054820"/>
            <a:ext cx="5249930" cy="997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Fund performance difficult to compare across AMCs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Financial data scattered across 12 isolated sources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Investor behavior insights unavailable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Risk analytics not easily accessible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86640" y="1697633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Objectives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640" y="2096294"/>
            <a:ext cx="226808" cy="226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34393" y="2102941"/>
            <a:ext cx="490217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Automated ETL Pipeline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34393" y="2460129"/>
            <a:ext cx="490217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 ingestion across 12 financial datasets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640" y="2946102"/>
            <a:ext cx="22680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34393" y="2952750"/>
            <a:ext cx="490217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Clean Financial Data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34393" y="3309937"/>
            <a:ext cx="490217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Standardize and validate all records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6640" y="3795911"/>
            <a:ext cx="226808" cy="2268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34393" y="3802559"/>
            <a:ext cx="490217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Interactive Executive Dashboards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634393" y="4159746"/>
            <a:ext cx="490217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Four interactive reporting modules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640" y="4645720"/>
            <a:ext cx="226808" cy="22681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34393" y="4652367"/>
            <a:ext cx="490217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Advanced Analytics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634393" y="5009555"/>
            <a:ext cx="490217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VaR, Sharpe Ratio, Alpha &amp; Beta</a:t>
            </a:r>
            <a:endParaRPr lang="en-US" sz="11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86640" y="5495528"/>
            <a:ext cx="226808" cy="22681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34393" y="5502176"/>
            <a:ext cx="490217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Actionable Insights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6634393" y="5859363"/>
            <a:ext cx="490217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Risk-based fund recommendations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8557"/>
            <a:ext cx="1287430" cy="201116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848" y="718245"/>
            <a:ext cx="173826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1668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Architecture &amp; ETL Pipeline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30" y="1368846"/>
            <a:ext cx="5764848" cy="39716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523" y="3003748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Pipeline Scale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3523" y="3302992"/>
            <a:ext cx="527304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end-to-end pipeline processes four data domains — fund data, NAV history, investor transactions, and portfolio holdings — through a standardized transformation workflow before surfacing in Power BI.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1475" y="5472708"/>
            <a:ext cx="2647685" cy="706735"/>
          </a:xfrm>
          <a:prstGeom prst="roundRect">
            <a:avLst>
              <a:gd name="adj" fmla="val 2808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793730" y="5604966"/>
            <a:ext cx="238317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3730" y="5867202"/>
            <a:ext cx="2383175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Datasets Integrated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01729" y="5472708"/>
            <a:ext cx="2647785" cy="706735"/>
          </a:xfrm>
          <a:prstGeom prst="roundRect">
            <a:avLst>
              <a:gd name="adj" fmla="val 2808"/>
            </a:avLst>
          </a:prstGeom>
          <a:solidFill>
            <a:srgbClr val="F9F7F7"/>
          </a:solidFill>
          <a:ln/>
        </p:spPr>
      </p:sp>
      <p:sp>
        <p:nvSpPr>
          <p:cNvPr id="12" name="Text 9"/>
          <p:cNvSpPr/>
          <p:nvPr/>
        </p:nvSpPr>
        <p:spPr>
          <a:xfrm>
            <a:off x="3533984" y="5604966"/>
            <a:ext cx="238327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46,000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33984" y="5867202"/>
            <a:ext cx="238327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NAV Records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42082" y="5472708"/>
            <a:ext cx="2647785" cy="706735"/>
          </a:xfrm>
          <a:prstGeom prst="roundRect">
            <a:avLst>
              <a:gd name="adj" fmla="val 2808"/>
            </a:avLst>
          </a:prstGeom>
          <a:solidFill>
            <a:srgbClr val="F9F7F7"/>
          </a:solidFill>
          <a:ln/>
        </p:spPr>
      </p:sp>
      <p:sp>
        <p:nvSpPr>
          <p:cNvPr id="15" name="Text 12"/>
          <p:cNvSpPr/>
          <p:nvPr/>
        </p:nvSpPr>
        <p:spPr>
          <a:xfrm>
            <a:off x="6274338" y="5604966"/>
            <a:ext cx="238327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32,778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74338" y="5867202"/>
            <a:ext cx="238327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882436" y="5472708"/>
            <a:ext cx="2647785" cy="706735"/>
          </a:xfrm>
          <a:prstGeom prst="roundRect">
            <a:avLst>
              <a:gd name="adj" fmla="val 2808"/>
            </a:avLst>
          </a:prstGeom>
          <a:solidFill>
            <a:srgbClr val="F9F7F7"/>
          </a:solidFill>
          <a:ln/>
        </p:spPr>
      </p:sp>
      <p:sp>
        <p:nvSpPr>
          <p:cNvPr id="18" name="Text 15"/>
          <p:cNvSpPr/>
          <p:nvPr/>
        </p:nvSpPr>
        <p:spPr>
          <a:xfrm>
            <a:off x="9014691" y="5604966"/>
            <a:ext cx="238327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014691" y="5867202"/>
            <a:ext cx="238327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Mutual Funds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431"/>
            <a:ext cx="741046" cy="166092"/>
          </a:xfrm>
          <a:prstGeom prst="roundRect">
            <a:avLst>
              <a:gd name="adj" fmla="val 7906"/>
            </a:avLst>
          </a:prstGeom>
          <a:noFill/>
          <a:ln w="6350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7057" y="562173"/>
            <a:ext cx="1219467" cy="10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DASHBOARD 1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20824"/>
            <a:ext cx="10868745" cy="3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Industry Overview Dashboard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605518" y="1212354"/>
            <a:ext cx="3506601" cy="36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₹391Cr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61475" y="1675606"/>
            <a:ext cx="5394785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AUM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1475" y="1884561"/>
            <a:ext cx="5394785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Across 40 schemes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79478" y="1212354"/>
            <a:ext cx="3506601" cy="36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₹939K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135435" y="1675606"/>
            <a:ext cx="5394785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SIP Inflow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35435" y="1884561"/>
            <a:ext cx="5394785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Active SIP contributions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05518" y="2204045"/>
            <a:ext cx="3506601" cy="36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26.1K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61475" y="2667298"/>
            <a:ext cx="5394785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Folios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1475" y="2876252"/>
            <a:ext cx="5394785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Active investor accounts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79478" y="2204045"/>
            <a:ext cx="3506601" cy="36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35435" y="2667298"/>
            <a:ext cx="5394785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Schemes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35435" y="2876252"/>
            <a:ext cx="5394785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Funds under analysis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1475" y="3149005"/>
            <a:ext cx="5300927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Industry AUM Growth (2022–2025)</a:t>
            </a:r>
            <a:endParaRPr lang="en-US" sz="10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391198"/>
            <a:ext cx="3445583" cy="248185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35643" y="3149005"/>
            <a:ext cx="5300927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Top AMCs by Assets Under Management</a:t>
            </a:r>
            <a:endParaRPr lang="en-US" sz="10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643" y="3391198"/>
            <a:ext cx="3445583" cy="248185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61475" y="6015534"/>
            <a:ext cx="10868745" cy="313035"/>
          </a:xfrm>
          <a:prstGeom prst="roundRect">
            <a:avLst>
              <a:gd name="adj" fmla="val 5243"/>
            </a:avLst>
          </a:prstGeom>
          <a:solidFill>
            <a:srgbClr val="F3E3D8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11" y="6152158"/>
            <a:ext cx="136720" cy="10933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16868" y="6106120"/>
            <a:ext cx="11013601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Business Insight:</a:t>
            </a:r>
            <a:r>
              <a:rPr lang="en-US" sz="8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SBI Mutual Fund leads with highest AUM; industry AUM grew consistently from 2022–2025, reflecting sustained investor confidence.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6106"/>
            <a:ext cx="896717" cy="201116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848" y="635794"/>
            <a:ext cx="1347555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DASHBOARD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3423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Fund Performance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93373" y="1452662"/>
            <a:ext cx="2481994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32.83%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61475" y="2024856"/>
            <a:ext cx="35457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Highest CAGR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2287091"/>
            <a:ext cx="354579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Small Cap category leader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54850" y="1452662"/>
            <a:ext cx="2481994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0.56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22952" y="2024856"/>
            <a:ext cx="35457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Avg Sharpe Ratio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22952" y="2287091"/>
            <a:ext cx="354579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Risk-adjusted return metric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16328" y="1452662"/>
            <a:ext cx="2481994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0.16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984429" y="2024856"/>
            <a:ext cx="35457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Average Alpha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84429" y="2287091"/>
            <a:ext cx="354579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Excess return over benchmark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1475" y="2663825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Risk vs. Return Scatter Plot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74677"/>
            <a:ext cx="3691044" cy="2656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263523" y="2663825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Top Funds vs. Benchmark</a:t>
            </a:r>
            <a:endParaRPr lang="en-US" sz="13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523" y="2974677"/>
            <a:ext cx="3691044" cy="26568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1475" y="5839916"/>
            <a:ext cx="10868745" cy="421977"/>
          </a:xfrm>
          <a:prstGeom prst="roundRect">
            <a:avLst>
              <a:gd name="adj" fmla="val 4703"/>
            </a:avLst>
          </a:prstGeom>
          <a:solidFill>
            <a:srgbClr val="F3E3D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30" y="6016427"/>
            <a:ext cx="165294" cy="13225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1280" y="5965527"/>
            <a:ext cx="1091627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Business Insight:</a:t>
            </a:r>
            <a:r>
              <a:rPr lang="en-US" sz="10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Small Cap funds delivered the highest CAGR but carry elevated volatility; Sharpe Ratio confirms superior risk-adjusted performance for select funds.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8857"/>
            <a:ext cx="882330" cy="197743"/>
          </a:xfrm>
          <a:prstGeom prst="roundRect">
            <a:avLst>
              <a:gd name="adj" fmla="val 7904"/>
            </a:avLst>
          </a:prstGeom>
          <a:noFill/>
          <a:ln w="6350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9558" y="577850"/>
            <a:ext cx="1335749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DASHBOARD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72418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Investor Analytics Dashboard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93671" y="1379041"/>
            <a:ext cx="248368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5,000</a:t>
            </a:r>
            <a:endParaRPr lang="en-US" sz="3350" dirty="0"/>
          </a:p>
        </p:txBody>
      </p:sp>
      <p:sp>
        <p:nvSpPr>
          <p:cNvPr id="6" name="Text 4"/>
          <p:cNvSpPr/>
          <p:nvPr/>
        </p:nvSpPr>
        <p:spPr>
          <a:xfrm>
            <a:off x="661475" y="1941215"/>
            <a:ext cx="3548172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Investors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1475" y="2198489"/>
            <a:ext cx="3548172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Active investor base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53957" y="1379041"/>
            <a:ext cx="248368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33K</a:t>
            </a:r>
            <a:endParaRPr lang="en-US" sz="3350" dirty="0"/>
          </a:p>
        </p:txBody>
      </p:sp>
      <p:sp>
        <p:nvSpPr>
          <p:cNvPr id="9" name="Text 7"/>
          <p:cNvSpPr/>
          <p:nvPr/>
        </p:nvSpPr>
        <p:spPr>
          <a:xfrm>
            <a:off x="4321761" y="1941215"/>
            <a:ext cx="3548172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Transactions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21761" y="2198489"/>
            <a:ext cx="3548172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Across all schemes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14244" y="1379041"/>
            <a:ext cx="248368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₹11K</a:t>
            </a:r>
            <a:endParaRPr lang="en-US" sz="3350" dirty="0"/>
          </a:p>
        </p:txBody>
      </p:sp>
      <p:sp>
        <p:nvSpPr>
          <p:cNvPr id="12" name="Text 10"/>
          <p:cNvSpPr/>
          <p:nvPr/>
        </p:nvSpPr>
        <p:spPr>
          <a:xfrm>
            <a:off x="7982048" y="1941215"/>
            <a:ext cx="3548172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Avg Investment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82048" y="2198489"/>
            <a:ext cx="3548172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 transaction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1475" y="2565102"/>
            <a:ext cx="527552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Transaction Type Distribution</a:t>
            </a:r>
            <a:endParaRPr lang="en-US" sz="12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69505"/>
            <a:ext cx="3692829" cy="266015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261043" y="2565102"/>
            <a:ext cx="527552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Average Investment by Age Group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043" y="2869505"/>
            <a:ext cx="3692829" cy="266015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1475" y="5731470"/>
            <a:ext cx="10868745" cy="587573"/>
          </a:xfrm>
          <a:prstGeom prst="roundRect">
            <a:avLst>
              <a:gd name="adj" fmla="val 3325"/>
            </a:avLst>
          </a:prstGeom>
          <a:solidFill>
            <a:srgbClr val="F3E3D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47" y="5900936"/>
            <a:ext cx="162715" cy="1301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84533" y="5853708"/>
            <a:ext cx="10315515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Business Insight:</a:t>
            </a:r>
            <a:r>
              <a:rPr lang="en-US" sz="10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Lumpsum dominates transaction volume; investors aged 26–45 contribute the highest average investments; Tier-1 cities drive maximum transaction activity.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8857"/>
            <a:ext cx="882330" cy="197743"/>
          </a:xfrm>
          <a:prstGeom prst="roundRect">
            <a:avLst>
              <a:gd name="adj" fmla="val 7904"/>
            </a:avLst>
          </a:prstGeom>
          <a:noFill/>
          <a:ln w="6350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9558" y="577850"/>
            <a:ext cx="1335749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DASHBOARD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72418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SIP &amp; Market Trends Dashboard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93671" y="1379041"/>
            <a:ext cx="248368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₹939K</a:t>
            </a:r>
            <a:endParaRPr lang="en-US" sz="3350" dirty="0"/>
          </a:p>
        </p:txBody>
      </p:sp>
      <p:sp>
        <p:nvSpPr>
          <p:cNvPr id="6" name="Text 4"/>
          <p:cNvSpPr/>
          <p:nvPr/>
        </p:nvSpPr>
        <p:spPr>
          <a:xfrm>
            <a:off x="661475" y="1941215"/>
            <a:ext cx="3548172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SIP Inflow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1475" y="2198489"/>
            <a:ext cx="3548172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Cumulative SIP contributions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53957" y="1379041"/>
            <a:ext cx="248368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₹19.6K</a:t>
            </a:r>
            <a:endParaRPr lang="en-US" sz="3350" dirty="0"/>
          </a:p>
        </p:txBody>
      </p:sp>
      <p:sp>
        <p:nvSpPr>
          <p:cNvPr id="9" name="Text 7"/>
          <p:cNvSpPr/>
          <p:nvPr/>
        </p:nvSpPr>
        <p:spPr>
          <a:xfrm>
            <a:off x="4321761" y="1941215"/>
            <a:ext cx="3548172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Avg Monthly SIP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21761" y="2198489"/>
            <a:ext cx="3548172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 active SIP account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14244" y="1379041"/>
            <a:ext cx="2483681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₹15.9Cr</a:t>
            </a:r>
            <a:endParaRPr lang="en-US" sz="3350" dirty="0"/>
          </a:p>
        </p:txBody>
      </p:sp>
      <p:sp>
        <p:nvSpPr>
          <p:cNvPr id="12" name="Text 10"/>
          <p:cNvSpPr/>
          <p:nvPr/>
        </p:nvSpPr>
        <p:spPr>
          <a:xfrm>
            <a:off x="7982048" y="1941215"/>
            <a:ext cx="3548172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Latest SIP AUM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82048" y="2198489"/>
            <a:ext cx="3548172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Total SIP assets under management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1475" y="2565102"/>
            <a:ext cx="527552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SIP Inflow vs. NIFTY 50 Correlation</a:t>
            </a:r>
            <a:endParaRPr lang="en-US" sz="12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69505"/>
            <a:ext cx="3692829" cy="266015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261043" y="2565102"/>
            <a:ext cx="527552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Category-wise Net Inflow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043" y="2869505"/>
            <a:ext cx="3692829" cy="266015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1475" y="5731470"/>
            <a:ext cx="10868745" cy="587573"/>
          </a:xfrm>
          <a:prstGeom prst="roundRect">
            <a:avLst>
              <a:gd name="adj" fmla="val 3325"/>
            </a:avLst>
          </a:prstGeom>
          <a:solidFill>
            <a:srgbClr val="F3E3D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47" y="5900936"/>
            <a:ext cx="162715" cy="1301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84533" y="5853708"/>
            <a:ext cx="10315515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Business Insight:</a:t>
            </a:r>
            <a:r>
              <a:rPr lang="en-US" sz="10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SIP participation is steadily increasing; Flexi Cap receives the highest net inflows; active SIP accounts continue growing, signaling rising retail investor confidence.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5511"/>
            <a:ext cx="1727653" cy="258465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3469" y="646509"/>
            <a:ext cx="213324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ADVANCED ANALYTICS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1519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Advanced Financial Analytics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829495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Risk Analytics Framework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267446"/>
            <a:ext cx="5226911" cy="13141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6779" y="2456557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Historical VaR (95%)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26779" y="2875359"/>
            <a:ext cx="47725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Maximum expected loss at 95% confidence across all 40 funds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34693"/>
            <a:ext cx="5226911" cy="1055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6779" y="3923804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Conditional VaR (CVaR)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926779" y="4342606"/>
            <a:ext cx="477250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Tail-risk exposure beyond the VaR threshold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943376"/>
            <a:ext cx="5226911" cy="1055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6779" y="5132487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Rolling 90-Day Sharpe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926779" y="5551289"/>
            <a:ext cx="477250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Time-series risk-adjusted performance for key funds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09659" y="1829495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Investor Analytics Framework</a:t>
            </a:r>
            <a:endParaRPr lang="en-US" sz="16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659" y="2267446"/>
            <a:ext cx="2536861" cy="18384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74963" y="2456557"/>
            <a:ext cx="20824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Cohort Analysis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574963" y="2875359"/>
            <a:ext cx="208245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Investor retention and behavior segmented by acquisition period</a:t>
            </a:r>
            <a:endParaRPr lang="en-US" sz="13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9610" y="2267446"/>
            <a:ext cx="2536960" cy="18384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264914" y="2456557"/>
            <a:ext cx="208254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SIP Continuity Analysis</a:t>
            </a:r>
            <a:endParaRPr lang="en-US" sz="1650" dirty="0"/>
          </a:p>
        </p:txBody>
      </p:sp>
      <p:sp>
        <p:nvSpPr>
          <p:cNvPr id="21" name="Text 14"/>
          <p:cNvSpPr/>
          <p:nvPr/>
        </p:nvSpPr>
        <p:spPr>
          <a:xfrm>
            <a:off x="9264914" y="3141067"/>
            <a:ext cx="20825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Measurement of SIP discipline and dropout rates</a:t>
            </a:r>
            <a:endParaRPr lang="en-US" sz="13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09659" y="4258965"/>
            <a:ext cx="2536861" cy="18312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574963" y="4448076"/>
            <a:ext cx="20824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HHI Concentration</a:t>
            </a:r>
            <a:endParaRPr lang="en-US" sz="1650" dirty="0"/>
          </a:p>
        </p:txBody>
      </p:sp>
      <p:sp>
        <p:nvSpPr>
          <p:cNvPr id="24" name="Text 16"/>
          <p:cNvSpPr/>
          <p:nvPr/>
        </p:nvSpPr>
        <p:spPr>
          <a:xfrm>
            <a:off x="6574963" y="4866878"/>
            <a:ext cx="208245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Portfolio diversification measured using Herfindahl-Hirschman Index</a:t>
            </a:r>
            <a:endParaRPr lang="en-US" sz="13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99610" y="4258965"/>
            <a:ext cx="2536960" cy="18312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264914" y="4448076"/>
            <a:ext cx="208254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Recommendation Engine</a:t>
            </a:r>
            <a:endParaRPr lang="en-US" sz="1650" dirty="0"/>
          </a:p>
        </p:txBody>
      </p:sp>
      <p:sp>
        <p:nvSpPr>
          <p:cNvPr id="27" name="Text 18"/>
          <p:cNvSpPr/>
          <p:nvPr/>
        </p:nvSpPr>
        <p:spPr>
          <a:xfrm>
            <a:off x="9264914" y="5132586"/>
            <a:ext cx="20825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Risk-profile-based fund selection system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5760"/>
            <a:ext cx="1302114" cy="240308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6326" y="573187"/>
            <a:ext cx="1721998" cy="145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BUSINESS IMPACT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18952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Findings &amp; Business Impact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61475" y="1511598"/>
            <a:ext cx="5368195" cy="894259"/>
          </a:xfrm>
          <a:prstGeom prst="roundRect">
            <a:avLst>
              <a:gd name="adj" fmla="val 2653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819626" y="1669752"/>
            <a:ext cx="5051894" cy="266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AUM Growth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19626" y="2015331"/>
            <a:ext cx="5051894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Industry AUM grew steadily, reflecting strong investor confidence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61926" y="1511598"/>
            <a:ext cx="5368295" cy="894259"/>
          </a:xfrm>
          <a:prstGeom prst="roundRect">
            <a:avLst>
              <a:gd name="adj" fmla="val 2653"/>
            </a:avLst>
          </a:prstGeom>
          <a:solidFill>
            <a:srgbClr val="F9F7F7"/>
          </a:solidFill>
          <a:ln/>
        </p:spPr>
      </p:sp>
      <p:sp>
        <p:nvSpPr>
          <p:cNvPr id="9" name="Text 7"/>
          <p:cNvSpPr/>
          <p:nvPr/>
        </p:nvSpPr>
        <p:spPr>
          <a:xfrm>
            <a:off x="6320076" y="1669752"/>
            <a:ext cx="5051993" cy="266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SIP Momentum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320076" y="2015331"/>
            <a:ext cx="505199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SIP investments increasing year-over-year across all categories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475" y="2538115"/>
            <a:ext cx="5368195" cy="894259"/>
          </a:xfrm>
          <a:prstGeom prst="roundRect">
            <a:avLst>
              <a:gd name="adj" fmla="val 2653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819626" y="2696270"/>
            <a:ext cx="5051894" cy="266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Small Cap Returns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9626" y="3041848"/>
            <a:ext cx="5051894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Highest CAGR at 32.83% but with elevated volatility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1926" y="2538115"/>
            <a:ext cx="5368295" cy="894259"/>
          </a:xfrm>
          <a:prstGeom prst="roundRect">
            <a:avLst>
              <a:gd name="adj" fmla="val 2653"/>
            </a:avLst>
          </a:prstGeom>
          <a:solidFill>
            <a:srgbClr val="F9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6320076" y="2696270"/>
            <a:ext cx="5051993" cy="266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👤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Core Investor Profile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20076" y="3041848"/>
            <a:ext cx="505199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Ages 26–45 drive the highest investment volumes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1475" y="3564632"/>
            <a:ext cx="5368195" cy="894259"/>
          </a:xfrm>
          <a:prstGeom prst="roundRect">
            <a:avLst>
              <a:gd name="adj" fmla="val 2653"/>
            </a:avLst>
          </a:prstGeom>
          <a:solidFill>
            <a:srgbClr val="F9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819626" y="3722787"/>
            <a:ext cx="5051894" cy="266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🔀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Moderate Diversification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9626" y="4068366"/>
            <a:ext cx="5051894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HHI analysis shows most portfolios are moderately diversified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61926" y="3564632"/>
            <a:ext cx="5368295" cy="894259"/>
          </a:xfrm>
          <a:prstGeom prst="roundRect">
            <a:avLst>
              <a:gd name="adj" fmla="val 2653"/>
            </a:avLst>
          </a:prstGeom>
          <a:solidFill>
            <a:srgbClr val="F9F7F7"/>
          </a:solidFill>
          <a:ln/>
        </p:spPr>
      </p:sp>
      <p:sp>
        <p:nvSpPr>
          <p:cNvPr id="21" name="Text 19"/>
          <p:cNvSpPr/>
          <p:nvPr/>
        </p:nvSpPr>
        <p:spPr>
          <a:xfrm>
            <a:off x="6320076" y="3722787"/>
            <a:ext cx="5051993" cy="266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Smarter Selection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20076" y="4068366"/>
            <a:ext cx="505199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Recommendation engine improves fund selection by risk profile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1475" y="4657328"/>
            <a:ext cx="10868745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Value Delivered</a:t>
            </a:r>
            <a:endParaRPr lang="en-US" sz="15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707" y="5110758"/>
            <a:ext cx="237226" cy="23723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75415" y="5102920"/>
            <a:ext cx="483768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financial reporting replacing manual processes</a:t>
            </a:r>
            <a:endParaRPr lang="en-US" sz="12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7727" y="5110758"/>
            <a:ext cx="237226" cy="2372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692435" y="5102920"/>
            <a:ext cx="4837785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Faster investment analysis with integrated data</a:t>
            </a:r>
            <a:endParaRPr lang="en-US" sz="12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707" y="5857677"/>
            <a:ext cx="237226" cy="2372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75415" y="5849838"/>
            <a:ext cx="483768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Deeper investor insights through behavioral analytics</a:t>
            </a:r>
            <a:endParaRPr lang="en-US" sz="1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7727" y="5857677"/>
            <a:ext cx="237226" cy="2372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692435" y="5849838"/>
            <a:ext cx="4837785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Interactive decision support for fund managers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4612"/>
            <a:ext cx="701459" cy="201116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848" y="584299"/>
            <a:ext cx="1152298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8273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427659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Achievements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1738511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1475" y="1944191"/>
            <a:ext cx="5273047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048371"/>
            <a:ext cx="527304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 financial datasets fully integrated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1475" y="2420144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1475" y="2625824"/>
            <a:ext cx="5273047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2730004"/>
            <a:ext cx="527304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 interactive Power BI dashboards deployed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475" y="3101777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1475" y="3307457"/>
            <a:ext cx="5273047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411637"/>
            <a:ext cx="527304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End-to-end Python ETL pipeline developed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1475" y="3783409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1475" y="3989090"/>
            <a:ext cx="5273047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093270"/>
            <a:ext cx="527304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Advanced risk analytics (VaR, CVaR, Sharpe) implemented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1475" y="446504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1475" y="4670723"/>
            <a:ext cx="5273047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4774902"/>
            <a:ext cx="527304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Risk-based fund recommendation engine built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1475" y="514667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1475" y="5352355"/>
            <a:ext cx="5273047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456535"/>
            <a:ext cx="527304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Business-ready insights generated for stakeholders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523" y="1427659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523" y="1738511"/>
            <a:ext cx="2590239" cy="988516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4828" y="1889820"/>
            <a:ext cx="22876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Live AMFI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14828" y="2189063"/>
            <a:ext cx="22876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fund data ingestion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46331" y="1738511"/>
            <a:ext cx="2590239" cy="988516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7636" y="1889820"/>
            <a:ext cx="2287629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ML Recommendation System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097636" y="2395736"/>
            <a:ext cx="22876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Predictive fund selection models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523" y="2819598"/>
            <a:ext cx="2590239" cy="781844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4828" y="2970907"/>
            <a:ext cx="22876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Power BI Service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14828" y="3270151"/>
            <a:ext cx="22876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Cloud-based report publishing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46331" y="2819598"/>
            <a:ext cx="2590239" cy="781844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7636" y="2970907"/>
            <a:ext cx="22876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Azure Cloud Deployment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97636" y="3270151"/>
            <a:ext cx="22876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Scalable production infrastructure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523" y="3694013"/>
            <a:ext cx="5273047" cy="781844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4828" y="3845322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Portfolio Optimization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14828" y="4144566"/>
            <a:ext cx="497043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Mean-variance &amp; Black-Litterman models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1475" y="5977136"/>
            <a:ext cx="10868745" cy="19050"/>
          </a:xfrm>
          <a:prstGeom prst="roundRect">
            <a:avLst>
              <a:gd name="adj" fmla="val 5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61475" y="6133405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Thank You</a:t>
            </a: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Questions welcome · </a:t>
            </a:r>
            <a:r>
              <a:rPr lang="en-US" sz="10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Aditya Bramhwanshi</a:t>
            </a: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· Data Analyst Intern · Bluestock Fintech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699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Source Serif 4</vt:lpstr>
      <vt:lpstr>Platypi Light</vt:lpstr>
      <vt:lpstr>Twemoji Mozilla</vt:lpstr>
      <vt:lpstr>Platypi Medium</vt:lpstr>
      <vt:lpstr>Source Serif 4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Bramhwanshi</dc:creator>
  <cp:lastModifiedBy>Aditya Bramhwanshi</cp:lastModifiedBy>
  <cp:revision>5</cp:revision>
  <dcterms:created xsi:type="dcterms:W3CDTF">2026-07-16T08:15:54Z</dcterms:created>
  <dcterms:modified xsi:type="dcterms:W3CDTF">2026-07-16T08:28:15Z</dcterms:modified>
</cp:coreProperties>
</file>